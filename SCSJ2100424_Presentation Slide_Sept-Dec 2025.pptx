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</p:sldIdLst>
  <p:sldSz cx="18288000" cy="10287000"/>
  <p:notesSz cx="6858000" cy="9144000"/>
  <p:embeddedFontLst>
    <p:embeddedFont>
      <p:font typeface="Arimo" panose="020B0604020202020204" charset="0"/>
      <p:regular r:id="rId11"/>
    </p:embeddedFont>
    <p:embeddedFont>
      <p:font typeface="Arimo 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802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08.12.2025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442912" y="1503089"/>
            <a:ext cx="17402175" cy="3714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20"/>
              </a:lnSpc>
            </a:pPr>
            <a:r>
              <a:rPr lang="en-US" sz="8100" b="1">
                <a:solidFill>
                  <a:srgbClr val="F5F5F5"/>
                </a:solidFill>
                <a:latin typeface="Arimo Bold"/>
                <a:ea typeface="Arimo Bold"/>
                <a:cs typeface="Arimo Bold"/>
                <a:sym typeface="Arimo Bold"/>
              </a:rPr>
              <a:t>A2Z CORPORATION: </a:t>
            </a:r>
            <a:r>
              <a:rPr lang="en-US" sz="8100" b="1">
                <a:solidFill>
                  <a:srgbClr val="DEFF9A"/>
                </a:solidFill>
                <a:latin typeface="Arimo Bold"/>
                <a:ea typeface="Arimo Bold"/>
                <a:cs typeface="Arimo Bold"/>
                <a:sym typeface="Arimo Bold"/>
              </a:rPr>
              <a:t>SECURE NETWORK DEFENSE ARCHITECTURE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800350" y="6163918"/>
            <a:ext cx="12973050" cy="1346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519"/>
              </a:lnSpc>
            </a:pPr>
            <a:r>
              <a:rPr lang="en-US" sz="6000">
                <a:solidFill>
                  <a:srgbClr val="E0E0E0"/>
                </a:solidFill>
                <a:latin typeface="Arimo"/>
                <a:ea typeface="Arimo"/>
                <a:cs typeface="Arimo"/>
                <a:sym typeface="Arimo"/>
              </a:rPr>
              <a:t>NAME: PATRICK ROGERS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800350" y="7536135"/>
            <a:ext cx="12944475" cy="692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55"/>
              </a:lnSpc>
            </a:pPr>
            <a:r>
              <a:rPr lang="en-US" sz="3049">
                <a:solidFill>
                  <a:srgbClr val="E0E0E0"/>
                </a:solidFill>
                <a:latin typeface="Arimo"/>
                <a:ea typeface="Arimo"/>
                <a:cs typeface="Arimo"/>
                <a:sym typeface="Arimo"/>
              </a:rPr>
              <a:t>STUDENT ID: SCSJ2100424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857250" y="1897335"/>
            <a:ext cx="16573500" cy="14288"/>
            <a:chOff x="0" y="0"/>
            <a:chExt cx="22098000" cy="190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098000" cy="19050"/>
            </a:xfrm>
            <a:custGeom>
              <a:avLst/>
              <a:gdLst/>
              <a:ahLst/>
              <a:cxnLst/>
              <a:rect l="l" t="t" r="r" b="b"/>
              <a:pathLst>
                <a:path w="22098000" h="19050">
                  <a:moveTo>
                    <a:pt x="0" y="0"/>
                  </a:moveTo>
                  <a:lnTo>
                    <a:pt x="22098000" y="0"/>
                  </a:lnTo>
                  <a:lnTo>
                    <a:pt x="22098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333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Freeform 6"/>
          <p:cNvSpPr/>
          <p:nvPr/>
        </p:nvSpPr>
        <p:spPr>
          <a:xfrm>
            <a:off x="9887314" y="2580602"/>
            <a:ext cx="7981883" cy="5966458"/>
          </a:xfrm>
          <a:custGeom>
            <a:avLst/>
            <a:gdLst/>
            <a:ahLst/>
            <a:cxnLst/>
            <a:rect l="l" t="t" r="r" b="b"/>
            <a:pathLst>
              <a:path w="7981883" h="5966458">
                <a:moveTo>
                  <a:pt x="0" y="0"/>
                </a:moveTo>
                <a:lnTo>
                  <a:pt x="7981884" y="0"/>
                </a:lnTo>
                <a:lnTo>
                  <a:pt x="7981884" y="5966458"/>
                </a:lnTo>
                <a:lnTo>
                  <a:pt x="0" y="59664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857250" y="762000"/>
            <a:ext cx="5830491" cy="918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26"/>
              </a:lnSpc>
            </a:pPr>
            <a:r>
              <a:rPr lang="en-US" sz="5400" b="1">
                <a:solidFill>
                  <a:srgbClr val="F5F5F5"/>
                </a:solidFill>
                <a:latin typeface="Arimo Bold"/>
                <a:ea typeface="Arimo Bold"/>
                <a:cs typeface="Arimo Bold"/>
                <a:sym typeface="Arimo Bold"/>
              </a:rPr>
              <a:t> SYSTEM DESIGN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57250" y="2979762"/>
            <a:ext cx="6512957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DEFF9A"/>
                </a:solidFill>
                <a:latin typeface="Arimo"/>
                <a:ea typeface="Arimo"/>
                <a:cs typeface="Arimo"/>
                <a:sym typeface="Arimo"/>
              </a:rPr>
              <a:t>KEY ARCHITECTURAL FEATURES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57250" y="3598887"/>
            <a:ext cx="7858125" cy="108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 b="1">
                <a:solidFill>
                  <a:srgbClr val="E0E0E0"/>
                </a:solidFill>
                <a:latin typeface="Arimo Bold"/>
                <a:ea typeface="Arimo Bold"/>
                <a:cs typeface="Arimo Bold"/>
                <a:sym typeface="Arimo Bold"/>
              </a:rPr>
              <a:t>Purpose:</a:t>
            </a:r>
            <a:r>
              <a:rPr lang="en-US" sz="2250">
                <a:solidFill>
                  <a:srgbClr val="E0E0E0"/>
                </a:solidFill>
                <a:latin typeface="Arimo"/>
                <a:ea typeface="Arimo"/>
                <a:cs typeface="Arimo"/>
                <a:sym typeface="Arimo"/>
              </a:rPr>
              <a:t> Mitigate risks like external attacks and lateral movement by isolating network segments.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57250" y="8172450"/>
            <a:ext cx="7858125" cy="108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E0E0E0"/>
                </a:solidFill>
                <a:latin typeface="Arimo"/>
                <a:ea typeface="Arimo"/>
                <a:cs typeface="Arimo"/>
                <a:sym typeface="Arimo"/>
              </a:rPr>
              <a:t>This structure prevents direct access to internal assets from the internet.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66850" y="4799037"/>
            <a:ext cx="7248525" cy="1051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5775" lvl="1" indent="-242888" algn="l">
              <a:lnSpc>
                <a:spcPts val="4320"/>
              </a:lnSpc>
              <a:buFont typeface="Arial"/>
              <a:buChar char="•"/>
            </a:pPr>
            <a:r>
              <a:rPr lang="en-US" sz="2250" b="1">
                <a:solidFill>
                  <a:srgbClr val="E0E0E0"/>
                </a:solidFill>
                <a:latin typeface="Arimo Bold"/>
                <a:ea typeface="Arimo Bold"/>
                <a:cs typeface="Arimo Bold"/>
                <a:sym typeface="Arimo Bold"/>
              </a:rPr>
              <a:t>Demilitarized Zone (DMZ):</a:t>
            </a:r>
            <a:r>
              <a:rPr lang="en-US" sz="2250">
                <a:solidFill>
                  <a:srgbClr val="E0E0E0"/>
                </a:solidFill>
                <a:latin typeface="Arimo"/>
                <a:ea typeface="Arimo"/>
                <a:cs typeface="Arimo"/>
                <a:sym typeface="Arimo"/>
              </a:rPr>
              <a:t> Hosts the public-facing service (Ubuntu Server/Juice Shop).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66850" y="5885668"/>
            <a:ext cx="7248525" cy="1051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5775" lvl="1" indent="-242888" algn="l">
              <a:lnSpc>
                <a:spcPts val="4320"/>
              </a:lnSpc>
              <a:buFont typeface="Arial"/>
              <a:buChar char="•"/>
            </a:pPr>
            <a:r>
              <a:rPr lang="en-US" sz="2250" b="1">
                <a:solidFill>
                  <a:srgbClr val="E0E0E0"/>
                </a:solidFill>
                <a:latin typeface="Arimo Bold"/>
                <a:ea typeface="Arimo Bold"/>
                <a:cs typeface="Arimo Bold"/>
                <a:sym typeface="Arimo Bold"/>
              </a:rPr>
              <a:t>Internal LAN:</a:t>
            </a:r>
            <a:r>
              <a:rPr lang="en-US" sz="2250">
                <a:solidFill>
                  <a:srgbClr val="E0E0E0"/>
                </a:solidFill>
                <a:latin typeface="Arimo"/>
                <a:ea typeface="Arimo"/>
                <a:cs typeface="Arimo"/>
                <a:sym typeface="Arimo"/>
              </a:rPr>
              <a:t> Protected segment for administrative systems (Admin-Kali-PC).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66850" y="6913587"/>
            <a:ext cx="7248525" cy="1051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5775" lvl="1" indent="-242888" algn="l">
              <a:lnSpc>
                <a:spcPts val="4320"/>
              </a:lnSpc>
              <a:buFont typeface="Arial"/>
              <a:buChar char="•"/>
            </a:pPr>
            <a:r>
              <a:rPr lang="en-US" sz="2250" b="1" dirty="0">
                <a:solidFill>
                  <a:srgbClr val="E0E0E0"/>
                </a:solidFill>
                <a:latin typeface="Arimo Bold"/>
                <a:ea typeface="Arimo Bold"/>
                <a:cs typeface="Arimo Bold"/>
                <a:sym typeface="Arimo Bold"/>
              </a:rPr>
              <a:t>Control:</a:t>
            </a:r>
            <a:r>
              <a:rPr lang="en-US" sz="2250" dirty="0">
                <a:solidFill>
                  <a:srgbClr val="E0E0E0"/>
                </a:solidFill>
                <a:latin typeface="Arimo"/>
                <a:ea typeface="Arimo"/>
                <a:cs typeface="Arimo"/>
                <a:sym typeface="Arimo"/>
              </a:rPr>
              <a:t> A2Z-Edge-Router manages traffic flow and enforces strict isolation policies.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57250" y="762000"/>
            <a:ext cx="17402175" cy="1822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26"/>
              </a:lnSpc>
            </a:pPr>
            <a:r>
              <a:rPr lang="en-US" sz="5400" b="1">
                <a:solidFill>
                  <a:srgbClr val="F5F5F5"/>
                </a:solidFill>
                <a:latin typeface="Arimo Bold"/>
                <a:ea typeface="Arimo Bold"/>
                <a:cs typeface="Arimo Bold"/>
                <a:sym typeface="Arimo Bold"/>
              </a:rPr>
              <a:t>IMPLEMENTED SECURITY MEASURES: UFW FIREWALL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57250" y="2651670"/>
            <a:ext cx="16573500" cy="14288"/>
            <a:chOff x="0" y="0"/>
            <a:chExt cx="22098000" cy="190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098000" cy="19050"/>
            </a:xfrm>
            <a:custGeom>
              <a:avLst/>
              <a:gdLst/>
              <a:ahLst/>
              <a:cxnLst/>
              <a:rect l="l" t="t" r="r" b="b"/>
              <a:pathLst>
                <a:path w="22098000" h="19050">
                  <a:moveTo>
                    <a:pt x="0" y="0"/>
                  </a:moveTo>
                  <a:lnTo>
                    <a:pt x="22098000" y="0"/>
                  </a:lnTo>
                  <a:lnTo>
                    <a:pt x="22098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333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857250" y="3402024"/>
            <a:ext cx="8251031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DEFF9A"/>
                </a:solidFill>
                <a:latin typeface="Arimo"/>
                <a:ea typeface="Arimo"/>
                <a:cs typeface="Arimo"/>
                <a:sym typeface="Arimo"/>
              </a:rPr>
              <a:t>HOST-LEVEL ACCESS CONTROL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38200" y="6900340"/>
            <a:ext cx="7858125" cy="1594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 b="1">
                <a:solidFill>
                  <a:srgbClr val="E0E0E0"/>
                </a:solidFill>
                <a:latin typeface="Arimo Bold"/>
                <a:ea typeface="Arimo Bold"/>
                <a:cs typeface="Arimo Bold"/>
                <a:sym typeface="Arimo Bold"/>
              </a:rPr>
              <a:t>Function:</a:t>
            </a:r>
            <a:r>
              <a:rPr lang="en-US" sz="2250">
                <a:solidFill>
                  <a:srgbClr val="E0E0E0"/>
                </a:solidFill>
                <a:latin typeface="Arimo"/>
                <a:ea typeface="Arimo"/>
                <a:cs typeface="Arimo"/>
                <a:sym typeface="Arimo"/>
              </a:rPr>
              <a:t> Acts as the first line of defense, strictly controlling network traffic and minimizing the server's attack surface against brute-force and exploitation attempts.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57250" y="4055807"/>
            <a:ext cx="7248525" cy="508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 b="1">
                <a:solidFill>
                  <a:srgbClr val="E0E0E0"/>
                </a:solidFill>
                <a:latin typeface="Arimo Bold"/>
                <a:ea typeface="Arimo Bold"/>
                <a:cs typeface="Arimo Bold"/>
                <a:sym typeface="Arimo Bold"/>
              </a:rPr>
              <a:t>Default Policy:</a:t>
            </a:r>
            <a:r>
              <a:rPr lang="en-US" sz="2250">
                <a:solidFill>
                  <a:srgbClr val="E0E0E0"/>
                </a:solidFill>
                <a:latin typeface="Arimo"/>
                <a:ea typeface="Arimo"/>
                <a:cs typeface="Arimo"/>
                <a:sym typeface="Arimo"/>
              </a:rPr>
              <a:t> Deny ALL incoming traffic.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57250" y="4667250"/>
            <a:ext cx="7248525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 b="1">
                <a:solidFill>
                  <a:srgbClr val="E0E0E0"/>
                </a:solidFill>
                <a:latin typeface="Arimo Bold"/>
                <a:ea typeface="Arimo Bold"/>
                <a:cs typeface="Arimo Bold"/>
                <a:sym typeface="Arimo Bold"/>
              </a:rPr>
              <a:t>Allowed Ports:</a:t>
            </a:r>
            <a:r>
              <a:rPr lang="en-US" sz="2250">
                <a:solidFill>
                  <a:srgbClr val="E0E0E0"/>
                </a:solidFill>
                <a:latin typeface="Arimo"/>
                <a:ea typeface="Arimo"/>
                <a:cs typeface="Arimo"/>
                <a:sym typeface="Arimo"/>
              </a:rPr>
              <a:t> Explicitly enabled only </a:t>
            </a:r>
            <a:r>
              <a:rPr lang="en-US" sz="2250">
                <a:solidFill>
                  <a:srgbClr val="DEFF9A"/>
                </a:solidFill>
                <a:latin typeface="Arimo"/>
                <a:ea typeface="Arimo"/>
                <a:cs typeface="Arimo"/>
                <a:sym typeface="Arimo"/>
              </a:rPr>
              <a:t>80</a:t>
            </a:r>
            <a:r>
              <a:rPr lang="en-US" sz="2250">
                <a:solidFill>
                  <a:srgbClr val="E0E0E0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2250">
                <a:solidFill>
                  <a:srgbClr val="DEFF9A"/>
                </a:solidFill>
                <a:latin typeface="Arimo"/>
                <a:ea typeface="Arimo"/>
                <a:cs typeface="Arimo"/>
                <a:sym typeface="Arimo"/>
              </a:rPr>
              <a:t>443</a:t>
            </a:r>
            <a:r>
              <a:rPr lang="en-US" sz="2250">
                <a:solidFill>
                  <a:srgbClr val="E0E0E0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2250">
                <a:solidFill>
                  <a:srgbClr val="DEFF9A"/>
                </a:solidFill>
                <a:latin typeface="Arimo"/>
                <a:ea typeface="Arimo"/>
                <a:cs typeface="Arimo"/>
                <a:sym typeface="Arimo"/>
              </a:rPr>
              <a:t>3000</a:t>
            </a:r>
            <a:r>
              <a:rPr lang="en-US" sz="2250">
                <a:solidFill>
                  <a:srgbClr val="E0E0E0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57250" y="5276850"/>
            <a:ext cx="7248525" cy="108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 b="1">
                <a:solidFill>
                  <a:srgbClr val="E0E0E0"/>
                </a:solidFill>
                <a:latin typeface="Arimo Bold"/>
                <a:ea typeface="Arimo Bold"/>
                <a:cs typeface="Arimo Bold"/>
                <a:sym typeface="Arimo Bold"/>
              </a:rPr>
              <a:t>SSH Restriction:</a:t>
            </a:r>
            <a:r>
              <a:rPr lang="en-US" sz="2250">
                <a:solidFill>
                  <a:srgbClr val="E0E0E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250">
                <a:solidFill>
                  <a:srgbClr val="DEFF9A"/>
                </a:solidFill>
                <a:latin typeface="Arimo"/>
                <a:ea typeface="Arimo"/>
                <a:cs typeface="Arimo"/>
                <a:sym typeface="Arimo"/>
              </a:rPr>
              <a:t>Port 22</a:t>
            </a:r>
            <a:r>
              <a:rPr lang="en-US" sz="2250">
                <a:solidFill>
                  <a:srgbClr val="E0E0E0"/>
                </a:solidFill>
                <a:latin typeface="Arimo"/>
                <a:ea typeface="Arimo"/>
                <a:cs typeface="Arimo"/>
                <a:sym typeface="Arimo"/>
              </a:rPr>
              <a:t> is restricted solely to the trusted Admin-Kali-PC IP (</a:t>
            </a:r>
            <a:r>
              <a:rPr lang="en-US" sz="2250">
                <a:solidFill>
                  <a:srgbClr val="DEFF9A"/>
                </a:solidFill>
                <a:latin typeface="Arimo"/>
                <a:ea typeface="Arimo"/>
                <a:cs typeface="Arimo"/>
                <a:sym typeface="Arimo"/>
              </a:rPr>
              <a:t>192.168.20.10</a:t>
            </a:r>
            <a:r>
              <a:rPr lang="en-US" sz="2250">
                <a:solidFill>
                  <a:srgbClr val="E0E0E0"/>
                </a:solidFill>
                <a:latin typeface="Arimo"/>
                <a:ea typeface="Arimo"/>
                <a:cs typeface="Arimo"/>
                <a:sym typeface="Arimo"/>
              </a:rPr>
              <a:t>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1028700" y="762000"/>
            <a:ext cx="17402175" cy="918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26"/>
              </a:lnSpc>
            </a:pPr>
            <a:r>
              <a:rPr lang="en-US" sz="5400" b="1">
                <a:solidFill>
                  <a:srgbClr val="F5F5F5"/>
                </a:solidFill>
                <a:latin typeface="Arimo Bold"/>
                <a:ea typeface="Arimo Bold"/>
                <a:cs typeface="Arimo Bold"/>
                <a:sym typeface="Arimo Bold"/>
              </a:rPr>
              <a:t>IMPLEMENTED SECURITY MEASURES: DOCKER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857250" y="2651670"/>
            <a:ext cx="16573500" cy="14288"/>
            <a:chOff x="0" y="0"/>
            <a:chExt cx="22098000" cy="190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098000" cy="19050"/>
            </a:xfrm>
            <a:custGeom>
              <a:avLst/>
              <a:gdLst/>
              <a:ahLst/>
              <a:cxnLst/>
              <a:rect l="l" t="t" r="r" b="b"/>
              <a:pathLst>
                <a:path w="22098000" h="19050">
                  <a:moveTo>
                    <a:pt x="0" y="0"/>
                  </a:moveTo>
                  <a:lnTo>
                    <a:pt x="22098000" y="0"/>
                  </a:lnTo>
                  <a:lnTo>
                    <a:pt x="22098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333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7" name="TextBox 7"/>
          <p:cNvSpPr txBox="1"/>
          <p:nvPr/>
        </p:nvSpPr>
        <p:spPr>
          <a:xfrm>
            <a:off x="1028700" y="2646907"/>
            <a:ext cx="8251031" cy="99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DEFF9A"/>
                </a:solidFill>
                <a:latin typeface="Arimo"/>
                <a:ea typeface="Arimo"/>
                <a:cs typeface="Arimo"/>
                <a:sym typeface="Arimo"/>
              </a:rPr>
              <a:t>APPLICATION ISOLATION AND CONTAINMENT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57250" y="4057650"/>
            <a:ext cx="7858125" cy="1051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 b="1">
                <a:solidFill>
                  <a:srgbClr val="E0E0E0"/>
                </a:solidFill>
                <a:latin typeface="Arimo Bold"/>
                <a:ea typeface="Arimo Bold"/>
                <a:cs typeface="Arimo Bold"/>
                <a:sym typeface="Arimo Bold"/>
              </a:rPr>
              <a:t>Application:</a:t>
            </a:r>
            <a:r>
              <a:rPr lang="en-US" sz="2250">
                <a:solidFill>
                  <a:srgbClr val="E0E0E0"/>
                </a:solidFill>
                <a:latin typeface="Arimo"/>
                <a:ea typeface="Arimo"/>
                <a:cs typeface="Arimo"/>
                <a:sym typeface="Arimo"/>
              </a:rPr>
              <a:t> OWASP Juice Shop deployed in a Docker container (exposed on port </a:t>
            </a:r>
            <a:r>
              <a:rPr lang="en-US" sz="2250">
                <a:solidFill>
                  <a:srgbClr val="DEFF9A"/>
                </a:solidFill>
                <a:latin typeface="Arimo"/>
                <a:ea typeface="Arimo"/>
                <a:cs typeface="Arimo"/>
                <a:sym typeface="Arimo"/>
              </a:rPr>
              <a:t>3000</a:t>
            </a:r>
            <a:r>
              <a:rPr lang="en-US" sz="2250">
                <a:solidFill>
                  <a:srgbClr val="E0E0E0"/>
                </a:solidFill>
                <a:latin typeface="Arimo"/>
                <a:ea typeface="Arimo"/>
                <a:cs typeface="Arimo"/>
                <a:sym typeface="Arimo"/>
              </a:rPr>
              <a:t>).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57250" y="5562600"/>
            <a:ext cx="7858125" cy="1594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 b="1" dirty="0">
                <a:solidFill>
                  <a:srgbClr val="E0E0E0"/>
                </a:solidFill>
                <a:latin typeface="Arimo Bold"/>
                <a:ea typeface="Arimo Bold"/>
                <a:cs typeface="Arimo Bold"/>
                <a:sym typeface="Arimo Bold"/>
              </a:rPr>
              <a:t>Security Benefit:</a:t>
            </a:r>
            <a:r>
              <a:rPr lang="en-US" sz="2250" dirty="0">
                <a:solidFill>
                  <a:srgbClr val="E0E0E0"/>
                </a:solidFill>
                <a:latin typeface="Arimo"/>
                <a:ea typeface="Arimo"/>
                <a:cs typeface="Arimo"/>
                <a:sym typeface="Arimo"/>
              </a:rPr>
              <a:t> Isolation. Contains potential breaches within the container, preventing attackers from gaining root access to the host OS or moving laterally.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57250" y="7524750"/>
            <a:ext cx="7858125" cy="1051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 b="1">
                <a:solidFill>
                  <a:srgbClr val="E0E0E0"/>
                </a:solidFill>
                <a:latin typeface="Arimo Bold"/>
                <a:ea typeface="Arimo Bold"/>
                <a:cs typeface="Arimo Bold"/>
                <a:sym typeface="Arimo Bold"/>
              </a:rPr>
              <a:t>Resilience:</a:t>
            </a:r>
            <a:r>
              <a:rPr lang="en-US" sz="2250">
                <a:solidFill>
                  <a:srgbClr val="E0E0E0"/>
                </a:solidFill>
                <a:latin typeface="Arimo"/>
                <a:ea typeface="Arimo"/>
                <a:cs typeface="Arimo"/>
                <a:sym typeface="Arimo"/>
              </a:rPr>
              <a:t> Malicious changes are non-persistent and automatically erased when the container is restarted.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857250" y="762000"/>
            <a:ext cx="17402175" cy="1822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26"/>
              </a:lnSpc>
            </a:pPr>
            <a:r>
              <a:rPr lang="en-US" sz="5400" b="1">
                <a:solidFill>
                  <a:srgbClr val="F5F5F5"/>
                </a:solidFill>
                <a:latin typeface="Arimo Bold"/>
                <a:ea typeface="Arimo Bold"/>
                <a:cs typeface="Arimo Bold"/>
                <a:sym typeface="Arimo Bold"/>
              </a:rPr>
              <a:t>IMPLEMENTED SECURITY MEASURES: SURICATA IDS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857250" y="2651670"/>
            <a:ext cx="16573500" cy="14288"/>
            <a:chOff x="0" y="0"/>
            <a:chExt cx="22098000" cy="190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098000" cy="19050"/>
            </a:xfrm>
            <a:custGeom>
              <a:avLst/>
              <a:gdLst/>
              <a:ahLst/>
              <a:cxnLst/>
              <a:rect l="l" t="t" r="r" b="b"/>
              <a:pathLst>
                <a:path w="22098000" h="19050">
                  <a:moveTo>
                    <a:pt x="0" y="0"/>
                  </a:moveTo>
                  <a:lnTo>
                    <a:pt x="22098000" y="0"/>
                  </a:lnTo>
                  <a:lnTo>
                    <a:pt x="22098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333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7" name="TextBox 7"/>
          <p:cNvSpPr txBox="1"/>
          <p:nvPr/>
        </p:nvSpPr>
        <p:spPr>
          <a:xfrm>
            <a:off x="857250" y="3214166"/>
            <a:ext cx="8251031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DEFF9A"/>
                </a:solidFill>
                <a:latin typeface="Arimo"/>
                <a:ea typeface="Arimo"/>
                <a:cs typeface="Arimo"/>
                <a:sym typeface="Arimo"/>
              </a:rPr>
              <a:t>REAL-TIME THREAT DETECTION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57250" y="3906849"/>
            <a:ext cx="7858125" cy="108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 b="1">
                <a:solidFill>
                  <a:srgbClr val="E0E0E0"/>
                </a:solidFill>
                <a:latin typeface="Arimo Bold"/>
                <a:ea typeface="Arimo Bold"/>
                <a:cs typeface="Arimo Bold"/>
                <a:sym typeface="Arimo Bold"/>
              </a:rPr>
              <a:t>Deployment:</a:t>
            </a:r>
            <a:r>
              <a:rPr lang="en-US" sz="2250">
                <a:solidFill>
                  <a:srgbClr val="E0E0E0"/>
                </a:solidFill>
                <a:latin typeface="Arimo"/>
                <a:ea typeface="Arimo"/>
                <a:cs typeface="Arimo"/>
                <a:sym typeface="Arimo"/>
              </a:rPr>
              <a:t> Installed and configured to monitor the DMZ interface (</a:t>
            </a:r>
            <a:r>
              <a:rPr lang="en-US" sz="2250">
                <a:solidFill>
                  <a:srgbClr val="DEFF9A"/>
                </a:solidFill>
                <a:latin typeface="Arimo"/>
                <a:ea typeface="Arimo"/>
                <a:cs typeface="Arimo"/>
                <a:sym typeface="Arimo"/>
              </a:rPr>
              <a:t>enp0s8</a:t>
            </a:r>
            <a:r>
              <a:rPr lang="en-US" sz="2250">
                <a:solidFill>
                  <a:srgbClr val="E0E0E0"/>
                </a:solidFill>
                <a:latin typeface="Arimo"/>
                <a:ea typeface="Arimo"/>
                <a:cs typeface="Arimo"/>
                <a:sym typeface="Arimo"/>
              </a:rPr>
              <a:t>).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57250" y="5183199"/>
            <a:ext cx="7858125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 b="1">
                <a:solidFill>
                  <a:srgbClr val="E0E0E0"/>
                </a:solidFill>
                <a:latin typeface="Arimo Bold"/>
                <a:ea typeface="Arimo Bold"/>
                <a:cs typeface="Arimo Bold"/>
                <a:sym typeface="Arimo Bold"/>
              </a:rPr>
              <a:t>Detection Capability: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57250" y="7044576"/>
            <a:ext cx="7858125" cy="1051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 b="1" dirty="0">
                <a:solidFill>
                  <a:srgbClr val="E0E0E0"/>
                </a:solidFill>
                <a:latin typeface="Arimo Bold"/>
                <a:ea typeface="Arimo Bold"/>
                <a:cs typeface="Arimo Bold"/>
                <a:sym typeface="Arimo Bold"/>
              </a:rPr>
              <a:t>Role:</a:t>
            </a:r>
            <a:r>
              <a:rPr lang="en-US" sz="2250" dirty="0">
                <a:solidFill>
                  <a:srgbClr val="E0E0E0"/>
                </a:solidFill>
                <a:latin typeface="Arimo"/>
                <a:ea typeface="Arimo"/>
                <a:cs typeface="Arimo"/>
                <a:sym typeface="Arimo"/>
              </a:rPr>
              <a:t> Provides continuous monitoring and early warning, detecting threats that bypass the host-level firewall.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7250" y="5776390"/>
            <a:ext cx="7248525" cy="508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5775" lvl="1" indent="-242888" algn="l">
              <a:lnSpc>
                <a:spcPts val="4320"/>
              </a:lnSpc>
              <a:buFont typeface="Arial"/>
              <a:buChar char="•"/>
            </a:pPr>
            <a:r>
              <a:rPr lang="en-US" sz="2250">
                <a:solidFill>
                  <a:srgbClr val="E0E0E0"/>
                </a:solidFill>
                <a:latin typeface="Arimo"/>
                <a:ea typeface="Arimo"/>
                <a:cs typeface="Arimo"/>
                <a:sym typeface="Arimo"/>
              </a:rPr>
              <a:t>Identifies port scans (like Nmap).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57250" y="6410483"/>
            <a:ext cx="7248525" cy="508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5775" lvl="1" indent="-242888" algn="l">
              <a:lnSpc>
                <a:spcPts val="4320"/>
              </a:lnSpc>
              <a:buFont typeface="Arial"/>
              <a:buChar char="•"/>
            </a:pPr>
            <a:r>
              <a:rPr lang="en-US" sz="2250" dirty="0">
                <a:solidFill>
                  <a:srgbClr val="E0E0E0"/>
                </a:solidFill>
                <a:latin typeface="Arimo"/>
                <a:ea typeface="Arimo"/>
                <a:cs typeface="Arimo"/>
                <a:sym typeface="Arimo"/>
              </a:rPr>
              <a:t>Brute-force attempts.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857250" y="2768872"/>
            <a:ext cx="7858125" cy="6660876"/>
            <a:chOff x="0" y="0"/>
            <a:chExt cx="10477500" cy="8881168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0477500" cy="8881110"/>
            </a:xfrm>
            <a:custGeom>
              <a:avLst/>
              <a:gdLst/>
              <a:ahLst/>
              <a:cxnLst/>
              <a:rect l="l" t="t" r="r" b="b"/>
              <a:pathLst>
                <a:path w="10477500" h="8881110">
                  <a:moveTo>
                    <a:pt x="0" y="0"/>
                  </a:moveTo>
                  <a:lnTo>
                    <a:pt x="10477500" y="0"/>
                  </a:lnTo>
                  <a:lnTo>
                    <a:pt x="10477500" y="8881110"/>
                  </a:lnTo>
                  <a:lnTo>
                    <a:pt x="0" y="8881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71"/>
              </a:stretch>
            </a:blipFill>
          </p:spPr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9572625" y="2768872"/>
            <a:ext cx="7858125" cy="6660876"/>
            <a:chOff x="0" y="0"/>
            <a:chExt cx="10477500" cy="8881168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10477500" cy="8881110"/>
            </a:xfrm>
            <a:custGeom>
              <a:avLst/>
              <a:gdLst/>
              <a:ahLst/>
              <a:cxnLst/>
              <a:rect l="l" t="t" r="r" b="b"/>
              <a:pathLst>
                <a:path w="10477500" h="8881110">
                  <a:moveTo>
                    <a:pt x="0" y="0"/>
                  </a:moveTo>
                  <a:lnTo>
                    <a:pt x="10477500" y="0"/>
                  </a:lnTo>
                  <a:lnTo>
                    <a:pt x="10477500" y="8881110"/>
                  </a:lnTo>
                  <a:lnTo>
                    <a:pt x="0" y="8881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171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857250" y="762000"/>
            <a:ext cx="11697177" cy="918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26"/>
              </a:lnSpc>
            </a:pPr>
            <a:r>
              <a:rPr lang="en-US" sz="5400" b="1">
                <a:solidFill>
                  <a:srgbClr val="F5F5F5"/>
                </a:solidFill>
                <a:latin typeface="Arimo Bold"/>
                <a:ea typeface="Arimo Bold"/>
                <a:cs typeface="Arimo Bold"/>
                <a:sym typeface="Arimo Bold"/>
              </a:rPr>
              <a:t>SECURITY TESTING &amp; VALIDATION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857250" y="1897335"/>
            <a:ext cx="16573500" cy="14288"/>
            <a:chOff x="0" y="0"/>
            <a:chExt cx="22098000" cy="190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098000" cy="19050"/>
            </a:xfrm>
            <a:custGeom>
              <a:avLst/>
              <a:gdLst/>
              <a:ahLst/>
              <a:cxnLst/>
              <a:rect l="l" t="t" r="r" b="b"/>
              <a:pathLst>
                <a:path w="22098000" h="19050">
                  <a:moveTo>
                    <a:pt x="0" y="0"/>
                  </a:moveTo>
                  <a:lnTo>
                    <a:pt x="22098000" y="0"/>
                  </a:lnTo>
                  <a:lnTo>
                    <a:pt x="22098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333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1443038" y="4051324"/>
            <a:ext cx="6744653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DEFF9A"/>
                </a:solidFill>
                <a:latin typeface="Arimo"/>
                <a:ea typeface="Arimo"/>
                <a:cs typeface="Arimo"/>
                <a:sym typeface="Arimo"/>
              </a:rPr>
              <a:t>NMAP SCANNING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43038" y="4813324"/>
            <a:ext cx="6686550" cy="108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 b="1">
                <a:solidFill>
                  <a:srgbClr val="E0E0E0"/>
                </a:solidFill>
                <a:latin typeface="Arimo Bold"/>
                <a:ea typeface="Arimo Bold"/>
                <a:cs typeface="Arimo Bold"/>
                <a:sym typeface="Arimo Bold"/>
              </a:rPr>
              <a:t>Method:</a:t>
            </a:r>
            <a:r>
              <a:rPr lang="en-US" sz="2250">
                <a:solidFill>
                  <a:srgbClr val="E0E0E0"/>
                </a:solidFill>
                <a:latin typeface="Arimo"/>
                <a:ea typeface="Arimo"/>
                <a:cs typeface="Arimo"/>
                <a:sym typeface="Arimo"/>
              </a:rPr>
              <a:t> Simulated an external attacker to confirm firewall rules and network mapping.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43038" y="6299224"/>
            <a:ext cx="6686550" cy="154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 b="1">
                <a:solidFill>
                  <a:srgbClr val="E0E0E0"/>
                </a:solidFill>
                <a:latin typeface="Arimo Bold"/>
                <a:ea typeface="Arimo Bold"/>
                <a:cs typeface="Arimo Bold"/>
                <a:sym typeface="Arimo Bold"/>
              </a:rPr>
              <a:t>Result:</a:t>
            </a:r>
            <a:r>
              <a:rPr lang="en-US" sz="2250">
                <a:solidFill>
                  <a:srgbClr val="E0E0E0"/>
                </a:solidFill>
                <a:latin typeface="Arimo"/>
                <a:ea typeface="Arimo"/>
                <a:cs typeface="Arimo"/>
                <a:sym typeface="Arimo"/>
              </a:rPr>
              <a:t> Only expected ports (</a:t>
            </a:r>
            <a:r>
              <a:rPr lang="en-US" sz="2250">
                <a:solidFill>
                  <a:srgbClr val="DEFF9A"/>
                </a:solidFill>
                <a:latin typeface="Arimo"/>
                <a:ea typeface="Arimo"/>
                <a:cs typeface="Arimo"/>
                <a:sym typeface="Arimo"/>
              </a:rPr>
              <a:t>80</a:t>
            </a:r>
            <a:r>
              <a:rPr lang="en-US" sz="2250">
                <a:solidFill>
                  <a:srgbClr val="E0E0E0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2250">
                <a:solidFill>
                  <a:srgbClr val="DEFF9A"/>
                </a:solidFill>
                <a:latin typeface="Arimo"/>
                <a:ea typeface="Arimo"/>
                <a:cs typeface="Arimo"/>
                <a:sym typeface="Arimo"/>
              </a:rPr>
              <a:t>3000</a:t>
            </a:r>
            <a:r>
              <a:rPr lang="en-US" sz="2250">
                <a:solidFill>
                  <a:srgbClr val="E0E0E0"/>
                </a:solidFill>
                <a:latin typeface="Arimo"/>
                <a:ea typeface="Arimo"/>
                <a:cs typeface="Arimo"/>
                <a:sym typeface="Arimo"/>
              </a:rPr>
              <a:t>) were open. Services were successfully enumerated, confirming visibility controls.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158412" y="4051324"/>
            <a:ext cx="6773227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DEFF9A"/>
                </a:solidFill>
                <a:latin typeface="Arimo"/>
                <a:ea typeface="Arimo"/>
                <a:cs typeface="Arimo"/>
                <a:sym typeface="Arimo"/>
              </a:rPr>
              <a:t>SURICATA IDS ALERTS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158412" y="4813324"/>
            <a:ext cx="6686550" cy="108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 b="1">
                <a:solidFill>
                  <a:srgbClr val="E0E0E0"/>
                </a:solidFill>
                <a:latin typeface="Arimo Bold"/>
                <a:ea typeface="Arimo Bold"/>
                <a:cs typeface="Arimo Bold"/>
                <a:sym typeface="Arimo Bold"/>
              </a:rPr>
              <a:t>Method:</a:t>
            </a:r>
            <a:r>
              <a:rPr lang="en-US" sz="2250">
                <a:solidFill>
                  <a:srgbClr val="E0E0E0"/>
                </a:solidFill>
                <a:latin typeface="Arimo"/>
                <a:ea typeface="Arimo"/>
                <a:cs typeface="Arimo"/>
                <a:sym typeface="Arimo"/>
              </a:rPr>
              <a:t> Monitored IDS logs during the Nmap simulation.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158412" y="6299224"/>
            <a:ext cx="6686550" cy="1051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 b="1">
                <a:solidFill>
                  <a:srgbClr val="E0E0E0"/>
                </a:solidFill>
                <a:latin typeface="Arimo Bold"/>
                <a:ea typeface="Arimo Bold"/>
                <a:cs typeface="Arimo Bold"/>
                <a:sym typeface="Arimo Bold"/>
              </a:rPr>
              <a:t>Result:</a:t>
            </a:r>
            <a:r>
              <a:rPr lang="en-US" sz="2250">
                <a:solidFill>
                  <a:srgbClr val="E0E0E0"/>
                </a:solidFill>
                <a:latin typeface="Arimo"/>
                <a:ea typeface="Arimo"/>
                <a:cs typeface="Arimo"/>
                <a:sym typeface="Arimo"/>
              </a:rPr>
              <a:t> 78 alerts generated. The IDS is fully functional in real-time detection mode.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857250" y="762000"/>
            <a:ext cx="4610100" cy="918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26"/>
              </a:lnSpc>
            </a:pPr>
            <a:r>
              <a:rPr lang="en-US" sz="5400" b="1">
                <a:solidFill>
                  <a:srgbClr val="F5F5F5"/>
                </a:solidFill>
                <a:latin typeface="Arimo Bold"/>
                <a:ea typeface="Arimo Bold"/>
                <a:cs typeface="Arimo Bold"/>
                <a:sym typeface="Arimo Bold"/>
              </a:rPr>
              <a:t>CONCLUSION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857250" y="1897335"/>
            <a:ext cx="16573500" cy="14288"/>
            <a:chOff x="0" y="0"/>
            <a:chExt cx="22098000" cy="190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098000" cy="19050"/>
            </a:xfrm>
            <a:custGeom>
              <a:avLst/>
              <a:gdLst/>
              <a:ahLst/>
              <a:cxnLst/>
              <a:rect l="l" t="t" r="r" b="b"/>
              <a:pathLst>
                <a:path w="22098000" h="19050">
                  <a:moveTo>
                    <a:pt x="0" y="0"/>
                  </a:moveTo>
                  <a:lnTo>
                    <a:pt x="22098000" y="0"/>
                  </a:lnTo>
                  <a:lnTo>
                    <a:pt x="22098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333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7" name="TextBox 7"/>
          <p:cNvSpPr txBox="1"/>
          <p:nvPr/>
        </p:nvSpPr>
        <p:spPr>
          <a:xfrm>
            <a:off x="857250" y="2111648"/>
            <a:ext cx="10377014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DEFF9A"/>
                </a:solidFill>
                <a:latin typeface="Arimo"/>
                <a:ea typeface="Arimo"/>
                <a:cs typeface="Arimo"/>
                <a:sym typeface="Arimo"/>
              </a:rPr>
              <a:t>PROJECT SUMMARY: ENHANCED SECURITY POSTURE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52488" y="3276748"/>
            <a:ext cx="9229725" cy="108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E0E0E0"/>
                </a:solidFill>
                <a:latin typeface="Arimo"/>
                <a:ea typeface="Arimo"/>
                <a:cs typeface="Arimo"/>
                <a:sym typeface="Arimo"/>
              </a:rPr>
              <a:t>A secure, layered infrastructure was successfully designed, implemented, and validated for A2Z Corporation. Key outcomes include: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52488" y="6783854"/>
            <a:ext cx="9229725" cy="108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E0E0E0"/>
                </a:solidFill>
                <a:latin typeface="Arimo"/>
                <a:ea typeface="Arimo"/>
                <a:cs typeface="Arimo"/>
                <a:sym typeface="Arimo"/>
              </a:rPr>
              <a:t>The system is now more resilient and secure against key external threats, providing enhanced operational continuity.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13720" y="4638824"/>
            <a:ext cx="8620125" cy="508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5775" lvl="1" indent="-242888" algn="l">
              <a:lnSpc>
                <a:spcPts val="4320"/>
              </a:lnSpc>
              <a:buFont typeface="Arial"/>
              <a:buChar char="•"/>
            </a:pPr>
            <a:r>
              <a:rPr lang="en-US" sz="2250">
                <a:solidFill>
                  <a:srgbClr val="E0E0E0"/>
                </a:solidFill>
                <a:latin typeface="Arimo"/>
                <a:ea typeface="Arimo"/>
                <a:cs typeface="Arimo"/>
                <a:sym typeface="Arimo"/>
              </a:rPr>
              <a:t>Reduced Attack Surface (UFW + DMZ segmentation).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13720" y="5318909"/>
            <a:ext cx="8620125" cy="508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5775" lvl="1" indent="-242888" algn="l">
              <a:lnSpc>
                <a:spcPts val="4320"/>
              </a:lnSpc>
              <a:buFont typeface="Arial"/>
              <a:buChar char="•"/>
            </a:pPr>
            <a:r>
              <a:rPr lang="en-US" sz="2250">
                <a:solidFill>
                  <a:srgbClr val="E0E0E0"/>
                </a:solidFill>
                <a:latin typeface="Arimo"/>
                <a:ea typeface="Arimo"/>
                <a:cs typeface="Arimo"/>
                <a:sym typeface="Arimo"/>
              </a:rPr>
              <a:t>Isolated Vulnerable Services (Docker containerization).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13720" y="5998994"/>
            <a:ext cx="8620125" cy="508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5775" lvl="1" indent="-242888" algn="l">
              <a:lnSpc>
                <a:spcPts val="4320"/>
              </a:lnSpc>
              <a:buFont typeface="Arial"/>
              <a:buChar char="•"/>
            </a:pPr>
            <a:r>
              <a:rPr lang="en-US" sz="2250">
                <a:solidFill>
                  <a:srgbClr val="E0E0E0"/>
                </a:solidFill>
                <a:latin typeface="Arimo"/>
                <a:ea typeface="Arimo"/>
                <a:cs typeface="Arimo"/>
                <a:sym typeface="Arimo"/>
              </a:rPr>
              <a:t>Continuous Threat Detection (Suricata IDS).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3481983" y="3776342"/>
            <a:ext cx="11324034" cy="2505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794"/>
              </a:lnSpc>
            </a:pPr>
            <a:r>
              <a:rPr lang="en-US" sz="15000" b="1">
                <a:solidFill>
                  <a:srgbClr val="F5F5F5"/>
                </a:solidFill>
                <a:latin typeface="Arimo Bold"/>
                <a:ea typeface="Arimo Bold"/>
                <a:cs typeface="Arimo Bold"/>
                <a:sym typeface="Arimo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434</Words>
  <Application>Microsoft Office PowerPoint</Application>
  <PresentationFormat>Custom</PresentationFormat>
  <Paragraphs>59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Arimo Bold</vt:lpstr>
      <vt:lpstr>Calibri</vt:lpstr>
      <vt:lpstr>Arimo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Slides for CS</dc:title>
  <cp:lastModifiedBy>PATRICK ROGERS A/L ALFRED ROMEO</cp:lastModifiedBy>
  <cp:revision>3</cp:revision>
  <dcterms:created xsi:type="dcterms:W3CDTF">2006-08-16T00:00:00Z</dcterms:created>
  <dcterms:modified xsi:type="dcterms:W3CDTF">2025-12-08T07:06:02Z</dcterms:modified>
  <dc:identifier>DAG6y8airGA</dc:identifier>
</cp:coreProperties>
</file>