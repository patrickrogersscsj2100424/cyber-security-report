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notesMasters/notesMaster1.xml" Type="http://schemas.openxmlformats.org/officeDocument/2006/relationships/notesMaster"/><Relationship Id="rId16" Target="theme/theme2.xml" Type="http://schemas.openxmlformats.org/officeDocument/2006/relationships/theme"/><Relationship Id="rId17" Target="notesSlides/notesSlide1.xml" Type="http://schemas.openxmlformats.org/officeDocument/2006/relationships/notes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notesSlides/notesSlide2.xml" Type="http://schemas.openxmlformats.org/officeDocument/2006/relationships/notesSlide"/><Relationship Id="rId21" Target="notesSlides/notesSlide3.xml" Type="http://schemas.openxmlformats.org/officeDocument/2006/relationships/notesSlide"/><Relationship Id="rId22" Target="notesSlides/notesSlide4.xml" Type="http://schemas.openxmlformats.org/officeDocument/2006/relationships/notesSlide"/><Relationship Id="rId23" Target="notesSlides/notesSlide5.xml" Type="http://schemas.openxmlformats.org/officeDocument/2006/relationships/notesSlide"/><Relationship Id="rId24" Target="notesSlides/notesSlide6.xml" Type="http://schemas.openxmlformats.org/officeDocument/2006/relationships/notesSlide"/><Relationship Id="rId25" Target="notesSlides/notesSlide7.xml" Type="http://schemas.openxmlformats.org/officeDocument/2006/relationships/notesSlide"/><Relationship Id="rId26" Target="notesSlides/notesSlide8.xml" Type="http://schemas.openxmlformats.org/officeDocument/2006/relationships/notesSlide"/><Relationship Id="rId27" Target="notesSlides/notesSlide9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png" Type="http://schemas.openxmlformats.org/officeDocument/2006/relationships/image"/><Relationship Id="rId4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442912" y="1503089"/>
            <a:ext cx="17402175" cy="3714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b="true" sz="8100">
                <a:solidFill>
                  <a:srgbClr val="F5F5F5"/>
                </a:solidFill>
                <a:latin typeface="Arimo Bold"/>
                <a:ea typeface="Arimo Bold"/>
                <a:cs typeface="Arimo Bold"/>
                <a:sym typeface="Arimo Bold"/>
              </a:rPr>
              <a:t>A2Z CORPORATION: </a:t>
            </a:r>
            <a:r>
              <a:rPr lang="en-US" b="true" sz="8100">
                <a:solidFill>
                  <a:srgbClr val="DEFF9A"/>
                </a:solidFill>
                <a:latin typeface="Arimo Bold"/>
                <a:ea typeface="Arimo Bold"/>
                <a:cs typeface="Arimo Bold"/>
                <a:sym typeface="Arimo Bold"/>
              </a:rPr>
              <a:t>SECURE NETWORK DEFENSE ARCHITECTURE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800350" y="6163918"/>
            <a:ext cx="12973050" cy="134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19"/>
              </a:lnSpc>
            </a:pPr>
            <a:r>
              <a:rPr lang="en-US" sz="600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NAME: PATRICK ROGERS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800350" y="7536135"/>
            <a:ext cx="12944475" cy="692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55"/>
              </a:lnSpc>
            </a:pPr>
            <a:r>
              <a:rPr lang="en-US" sz="3049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STUDENT ID: SCSJ2100424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857250" y="1897335"/>
            <a:ext cx="16573500" cy="14288"/>
            <a:chOff x="0" y="0"/>
            <a:chExt cx="22098000" cy="190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098000" cy="19050"/>
            </a:xfrm>
            <a:custGeom>
              <a:avLst/>
              <a:gdLst/>
              <a:ahLst/>
              <a:cxnLst/>
              <a:rect r="r" b="b" t="t" l="l"/>
              <a:pathLst>
                <a:path h="19050" w="2209800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9887314" y="2580602"/>
            <a:ext cx="7981883" cy="5966458"/>
          </a:xfrm>
          <a:custGeom>
            <a:avLst/>
            <a:gdLst/>
            <a:ahLst/>
            <a:cxnLst/>
            <a:rect r="r" b="b" t="t" l="l"/>
            <a:pathLst>
              <a:path h="5966458" w="7981883">
                <a:moveTo>
                  <a:pt x="0" y="0"/>
                </a:moveTo>
                <a:lnTo>
                  <a:pt x="7981884" y="0"/>
                </a:lnTo>
                <a:lnTo>
                  <a:pt x="7981884" y="5966458"/>
                </a:lnTo>
                <a:lnTo>
                  <a:pt x="0" y="59664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857250" y="762000"/>
            <a:ext cx="5830491" cy="918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26"/>
              </a:lnSpc>
            </a:pPr>
            <a:r>
              <a:rPr lang="en-US" b="true" sz="5400">
                <a:solidFill>
                  <a:srgbClr val="F5F5F5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b="true" sz="5400">
                <a:solidFill>
                  <a:srgbClr val="F5F5F5"/>
                </a:solidFill>
                <a:latin typeface="Arimo Bold"/>
                <a:ea typeface="Arimo Bold"/>
                <a:cs typeface="Arimo Bold"/>
                <a:sym typeface="Arimo Bold"/>
              </a:rPr>
              <a:t>SYSTEM DESIGN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7250" y="2979762"/>
            <a:ext cx="6512957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KEY ARCHITECTURAL FEATURES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57250" y="3598887"/>
            <a:ext cx="7858125" cy="10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Purpose: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Mitigate risks like external attacks and lateral movement by isolating network segments.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57250" y="8172450"/>
            <a:ext cx="7858125" cy="10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This structure prevents direct access to internal assets from the internet.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66850" y="4799037"/>
            <a:ext cx="7248525" cy="1051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775" indent="-242888" lvl="1">
              <a:lnSpc>
                <a:spcPts val="4320"/>
              </a:lnSpc>
              <a:buFont typeface="Arial"/>
              <a:buChar char="•"/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Demilitarized Zone (DMZ):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Hosts the public-facing service (Ubuntu Server/Juice Shop).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66850" y="5885668"/>
            <a:ext cx="7248525" cy="1051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775" indent="-242888" lvl="1">
              <a:lnSpc>
                <a:spcPts val="4320"/>
              </a:lnSpc>
              <a:buFont typeface="Arial"/>
              <a:buChar char="•"/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Internal LAN: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Protected segment for administrative systems (Admin-Kali-PC).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66850" y="6913587"/>
            <a:ext cx="7248525" cy="1051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775" indent="-242888" lvl="1">
              <a:lnSpc>
                <a:spcPts val="4320"/>
              </a:lnSpc>
              <a:buFont typeface="Arial"/>
              <a:buChar char="•"/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Boundary Control: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A2Z-Edge-Router manages traffic flow and enforces strict isolation policies.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>
            <a:grpSpLocks noChangeAspect="true"/>
          </p:cNvGrpSpPr>
          <p:nvPr/>
        </p:nvGrpSpPr>
        <p:grpSpPr>
          <a:xfrm rot="0">
            <a:off x="857250" y="3397522"/>
            <a:ext cx="10477425" cy="4429125"/>
            <a:chOff x="0" y="0"/>
            <a:chExt cx="13969900" cy="5905500"/>
          </a:xfrm>
        </p:grpSpPr>
        <p:sp>
          <p:nvSpPr>
            <p:cNvPr name="Freeform 5" id="5" descr="image.png"/>
            <p:cNvSpPr/>
            <p:nvPr/>
          </p:nvSpPr>
          <p:spPr>
            <a:xfrm flipH="false" flipV="false" rot="0">
              <a:off x="0" y="0"/>
              <a:ext cx="13969873" cy="5905500"/>
            </a:xfrm>
            <a:custGeom>
              <a:avLst/>
              <a:gdLst/>
              <a:ahLst/>
              <a:cxnLst/>
              <a:rect r="r" b="b" t="t" l="l"/>
              <a:pathLst>
                <a:path h="5905500" w="13969873">
                  <a:moveTo>
                    <a:pt x="0" y="0"/>
                  </a:moveTo>
                  <a:lnTo>
                    <a:pt x="13969873" y="0"/>
                  </a:lnTo>
                  <a:lnTo>
                    <a:pt x="13969873" y="5905500"/>
                  </a:lnTo>
                  <a:lnTo>
                    <a:pt x="0" y="5905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-23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62000"/>
            <a:ext cx="13030320" cy="918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26"/>
              </a:lnSpc>
            </a:pPr>
            <a:r>
              <a:rPr lang="en-US" b="true" sz="5400">
                <a:solidFill>
                  <a:srgbClr val="F5F5F5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b="true" sz="5400">
                <a:solidFill>
                  <a:srgbClr val="F5F5F5"/>
                </a:solidFill>
                <a:latin typeface="Arimo Bold"/>
                <a:ea typeface="Arimo Bold"/>
                <a:cs typeface="Arimo Bold"/>
                <a:sym typeface="Arimo Bold"/>
              </a:rPr>
              <a:t>NETWORK SEGMENTATION &amp; IP PLAN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57250" y="1897335"/>
            <a:ext cx="16573500" cy="14288"/>
            <a:chOff x="0" y="0"/>
            <a:chExt cx="22098000" cy="190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098000" cy="19050"/>
            </a:xfrm>
            <a:custGeom>
              <a:avLst/>
              <a:gdLst/>
              <a:ahLst/>
              <a:cxnLst/>
              <a:rect r="r" b="b" t="t" l="l"/>
              <a:pathLst>
                <a:path h="19050" w="2209800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857250" y="2749822"/>
            <a:ext cx="7240438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IP ADDRESSING AND COMPONENTS</a:t>
            </a:r>
          </a:p>
        </p:txBody>
      </p:sp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871538" y="3411810"/>
          <a:ext cx="10420350" cy="4343400"/>
        </p:xfrm>
        <a:graphic>
          <a:graphicData uri="http://schemas.openxmlformats.org/drawingml/2006/table">
            <a:tbl>
              <a:tblPr/>
              <a:tblGrid>
                <a:gridCol w="2196085"/>
                <a:gridCol w="2706106"/>
                <a:gridCol w="2444714"/>
                <a:gridCol w="3073446"/>
              </a:tblGrid>
              <a:tr h="10858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430"/>
                        </a:lnSpc>
                        <a:defRPr/>
                      </a:pPr>
                      <a:r>
                        <a:rPr lang="en-US" b="true" sz="2025">
                          <a:solidFill>
                            <a:srgbClr val="DEFF9A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Network Segment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430"/>
                        </a:lnSpc>
                        <a:defRPr/>
                      </a:pPr>
                      <a:r>
                        <a:rPr lang="en-US" b="true" sz="2025">
                          <a:solidFill>
                            <a:srgbClr val="DEFF9A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Subnet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430"/>
                        </a:lnSpc>
                        <a:defRPr/>
                      </a:pPr>
                      <a:r>
                        <a:rPr lang="en-US" b="true" sz="2025">
                          <a:solidFill>
                            <a:srgbClr val="DEFF9A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Router Gateway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430"/>
                        </a:lnSpc>
                        <a:defRPr/>
                      </a:pPr>
                      <a:r>
                        <a:rPr lang="en-US" b="true" sz="2025">
                          <a:solidFill>
                            <a:srgbClr val="DEFF9A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Device / IP Address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5"/>
                    </a:solidFill>
                  </a:tcPr>
                </a:tc>
              </a:tr>
              <a:tr h="10858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E0E0E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DMZ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E0E0E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192.168.10.0/24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E0E0E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192.168.10.1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E0E0E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Ubuntu Server (192.168.10.10)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10858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E0E0E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Internal LAN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E0E0E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192.168.20.0/24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E0E0E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192.168.20.1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E0E0E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 PC (Kali) (192.168.20.10)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108585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E0E0E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WAN / Internet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E0E0E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10.0.0.0/24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E0E0E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10.0.0.1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E0E0E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N/A</a:t>
                      </a:r>
                      <a:endParaRPr lang="en-US" sz="1100"/>
                    </a:p>
                  </a:txBody>
                  <a:tcPr marL="63500" marR="63500" marT="63500" marB="63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name="TextBox 11" id="11"/>
          <p:cNvSpPr txBox="true"/>
          <p:nvPr/>
        </p:nvSpPr>
        <p:spPr>
          <a:xfrm rot="0">
            <a:off x="12801525" y="3650888"/>
            <a:ext cx="4629000" cy="1051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Internet - DMZ: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ALLOW ports 80, 443 (Least Privilege).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801525" y="4740548"/>
            <a:ext cx="4629000" cy="1051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Internet - Internal LAN: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DENY ALL (Isolation).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801525" y="5831929"/>
            <a:ext cx="4629000" cy="1051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DMZ - Internal LAN: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DENY ALL (Prevent Lateral Movement).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801525" y="6923311"/>
            <a:ext cx="4629000" cy="1051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Internal LAN - DMZ: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ALLOW SSH/443 (Administrative Access).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71538" y="4604816"/>
            <a:ext cx="2197596" cy="14288"/>
            <a:chOff x="0" y="0"/>
            <a:chExt cx="2930128" cy="190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930144" cy="19050"/>
            </a:xfrm>
            <a:custGeom>
              <a:avLst/>
              <a:gdLst/>
              <a:ahLst/>
              <a:cxnLst/>
              <a:rect r="r" b="b" t="t" l="l"/>
              <a:pathLst>
                <a:path h="19050" w="2930144">
                  <a:moveTo>
                    <a:pt x="0" y="0"/>
                  </a:moveTo>
                  <a:lnTo>
                    <a:pt x="2930144" y="0"/>
                  </a:lnTo>
                  <a:lnTo>
                    <a:pt x="293014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3069134" y="4604816"/>
            <a:ext cx="2714625" cy="14288"/>
            <a:chOff x="0" y="0"/>
            <a:chExt cx="3619500" cy="1905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619500" cy="19050"/>
            </a:xfrm>
            <a:custGeom>
              <a:avLst/>
              <a:gdLst/>
              <a:ahLst/>
              <a:cxnLst/>
              <a:rect r="r" b="b" t="t" l="l"/>
              <a:pathLst>
                <a:path h="19050" w="3619500">
                  <a:moveTo>
                    <a:pt x="0" y="0"/>
                  </a:moveTo>
                  <a:lnTo>
                    <a:pt x="3619500" y="0"/>
                  </a:lnTo>
                  <a:lnTo>
                    <a:pt x="36195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5783758" y="4604816"/>
            <a:ext cx="2449637" cy="14288"/>
            <a:chOff x="0" y="0"/>
            <a:chExt cx="3266182" cy="1905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266186" cy="19050"/>
            </a:xfrm>
            <a:custGeom>
              <a:avLst/>
              <a:gdLst/>
              <a:ahLst/>
              <a:cxnLst/>
              <a:rect r="r" b="b" t="t" l="l"/>
              <a:pathLst>
                <a:path h="19050" w="3266186">
                  <a:moveTo>
                    <a:pt x="0" y="0"/>
                  </a:moveTo>
                  <a:lnTo>
                    <a:pt x="3266186" y="0"/>
                  </a:lnTo>
                  <a:lnTo>
                    <a:pt x="326618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8233395" y="4604816"/>
            <a:ext cx="3086992" cy="14288"/>
            <a:chOff x="0" y="0"/>
            <a:chExt cx="4115990" cy="1905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115943" cy="19050"/>
            </a:xfrm>
            <a:custGeom>
              <a:avLst/>
              <a:gdLst/>
              <a:ahLst/>
              <a:cxnLst/>
              <a:rect r="r" b="b" t="t" l="l"/>
              <a:pathLst>
                <a:path h="19050" w="4115943">
                  <a:moveTo>
                    <a:pt x="0" y="0"/>
                  </a:moveTo>
                  <a:lnTo>
                    <a:pt x="4115943" y="0"/>
                  </a:lnTo>
                  <a:lnTo>
                    <a:pt x="411594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871538" y="5762103"/>
            <a:ext cx="2197596" cy="14288"/>
            <a:chOff x="0" y="0"/>
            <a:chExt cx="2930128" cy="1905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930144" cy="19050"/>
            </a:xfrm>
            <a:custGeom>
              <a:avLst/>
              <a:gdLst/>
              <a:ahLst/>
              <a:cxnLst/>
              <a:rect r="r" b="b" t="t" l="l"/>
              <a:pathLst>
                <a:path h="19050" w="2930144">
                  <a:moveTo>
                    <a:pt x="0" y="0"/>
                  </a:moveTo>
                  <a:lnTo>
                    <a:pt x="2930144" y="0"/>
                  </a:lnTo>
                  <a:lnTo>
                    <a:pt x="293014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3069134" y="5762103"/>
            <a:ext cx="2714625" cy="14288"/>
            <a:chOff x="0" y="0"/>
            <a:chExt cx="3619500" cy="1905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619500" cy="19050"/>
            </a:xfrm>
            <a:custGeom>
              <a:avLst/>
              <a:gdLst/>
              <a:ahLst/>
              <a:cxnLst/>
              <a:rect r="r" b="b" t="t" l="l"/>
              <a:pathLst>
                <a:path h="19050" w="3619500">
                  <a:moveTo>
                    <a:pt x="0" y="0"/>
                  </a:moveTo>
                  <a:lnTo>
                    <a:pt x="3619500" y="0"/>
                  </a:lnTo>
                  <a:lnTo>
                    <a:pt x="36195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5783758" y="5762103"/>
            <a:ext cx="2449637" cy="14288"/>
            <a:chOff x="0" y="0"/>
            <a:chExt cx="3266182" cy="1905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266186" cy="19050"/>
            </a:xfrm>
            <a:custGeom>
              <a:avLst/>
              <a:gdLst/>
              <a:ahLst/>
              <a:cxnLst/>
              <a:rect r="r" b="b" t="t" l="l"/>
              <a:pathLst>
                <a:path h="19050" w="3266186">
                  <a:moveTo>
                    <a:pt x="0" y="0"/>
                  </a:moveTo>
                  <a:lnTo>
                    <a:pt x="3266186" y="0"/>
                  </a:lnTo>
                  <a:lnTo>
                    <a:pt x="326618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8233395" y="5762103"/>
            <a:ext cx="3086992" cy="14288"/>
            <a:chOff x="0" y="0"/>
            <a:chExt cx="4115990" cy="1905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115943" cy="19050"/>
            </a:xfrm>
            <a:custGeom>
              <a:avLst/>
              <a:gdLst/>
              <a:ahLst/>
              <a:cxnLst/>
              <a:rect r="r" b="b" t="t" l="l"/>
              <a:pathLst>
                <a:path h="19050" w="4115943">
                  <a:moveTo>
                    <a:pt x="0" y="0"/>
                  </a:moveTo>
                  <a:lnTo>
                    <a:pt x="4115943" y="0"/>
                  </a:lnTo>
                  <a:lnTo>
                    <a:pt x="411594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871538" y="6919390"/>
            <a:ext cx="2197596" cy="14288"/>
            <a:chOff x="0" y="0"/>
            <a:chExt cx="2930128" cy="1905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930144" cy="19050"/>
            </a:xfrm>
            <a:custGeom>
              <a:avLst/>
              <a:gdLst/>
              <a:ahLst/>
              <a:cxnLst/>
              <a:rect r="r" b="b" t="t" l="l"/>
              <a:pathLst>
                <a:path h="19050" w="2930144">
                  <a:moveTo>
                    <a:pt x="0" y="0"/>
                  </a:moveTo>
                  <a:lnTo>
                    <a:pt x="2930144" y="0"/>
                  </a:lnTo>
                  <a:lnTo>
                    <a:pt x="293014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3069134" y="6919390"/>
            <a:ext cx="2714625" cy="14288"/>
            <a:chOff x="0" y="0"/>
            <a:chExt cx="3619500" cy="1905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619500" cy="19050"/>
            </a:xfrm>
            <a:custGeom>
              <a:avLst/>
              <a:gdLst/>
              <a:ahLst/>
              <a:cxnLst/>
              <a:rect r="r" b="b" t="t" l="l"/>
              <a:pathLst>
                <a:path h="19050" w="3619500">
                  <a:moveTo>
                    <a:pt x="0" y="0"/>
                  </a:moveTo>
                  <a:lnTo>
                    <a:pt x="3619500" y="0"/>
                  </a:lnTo>
                  <a:lnTo>
                    <a:pt x="36195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5783758" y="6919390"/>
            <a:ext cx="2449637" cy="14288"/>
            <a:chOff x="0" y="0"/>
            <a:chExt cx="3266182" cy="1905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266186" cy="19050"/>
            </a:xfrm>
            <a:custGeom>
              <a:avLst/>
              <a:gdLst/>
              <a:ahLst/>
              <a:cxnLst/>
              <a:rect r="r" b="b" t="t" l="l"/>
              <a:pathLst>
                <a:path h="19050" w="3266186">
                  <a:moveTo>
                    <a:pt x="0" y="0"/>
                  </a:moveTo>
                  <a:lnTo>
                    <a:pt x="3266186" y="0"/>
                  </a:lnTo>
                  <a:lnTo>
                    <a:pt x="326618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8233395" y="6919390"/>
            <a:ext cx="3086992" cy="14288"/>
            <a:chOff x="0" y="0"/>
            <a:chExt cx="4115990" cy="1905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115943" cy="19050"/>
            </a:xfrm>
            <a:custGeom>
              <a:avLst/>
              <a:gdLst/>
              <a:ahLst/>
              <a:cxnLst/>
              <a:rect r="r" b="b" t="t" l="l"/>
              <a:pathLst>
                <a:path h="19050" w="4115943">
                  <a:moveTo>
                    <a:pt x="0" y="0"/>
                  </a:moveTo>
                  <a:lnTo>
                    <a:pt x="4115943" y="0"/>
                  </a:lnTo>
                  <a:lnTo>
                    <a:pt x="411594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57250" y="762000"/>
            <a:ext cx="17402175" cy="1822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26"/>
              </a:lnSpc>
            </a:pPr>
            <a:r>
              <a:rPr lang="en-US" b="true" sz="5400">
                <a:solidFill>
                  <a:srgbClr val="F5F5F5"/>
                </a:solidFill>
                <a:latin typeface="Arimo Bold"/>
                <a:ea typeface="Arimo Bold"/>
                <a:cs typeface="Arimo Bold"/>
                <a:sym typeface="Arimo Bold"/>
              </a:rPr>
              <a:t>IMPLEMENTED SECURITY MEASURES: UFW FIREWALL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857250" y="2651670"/>
            <a:ext cx="16573500" cy="14288"/>
            <a:chOff x="0" y="0"/>
            <a:chExt cx="22098000" cy="190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098000" cy="19050"/>
            </a:xfrm>
            <a:custGeom>
              <a:avLst/>
              <a:gdLst/>
              <a:ahLst/>
              <a:cxnLst/>
              <a:rect r="r" b="b" t="t" l="l"/>
              <a:pathLst>
                <a:path h="19050" w="2209800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857250" y="3402024"/>
            <a:ext cx="8251031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HOST-LEVEL ACCESS CONTROL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38200" y="6900340"/>
            <a:ext cx="7858125" cy="1594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Function: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Acts as the first line of defense, strictly controlling network traffic and minimizing the server's attack surface against brute-force and exploitation attempts.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4055807"/>
            <a:ext cx="7248525" cy="508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Default Policy: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Deny ALL incoming traffic.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7250" y="4667250"/>
            <a:ext cx="7248525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Allowed Ports: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Explicitly enabled only </a:t>
            </a:r>
            <a:r>
              <a:rPr lang="en-US" sz="22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80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22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443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22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3000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57250" y="5276850"/>
            <a:ext cx="7248525" cy="10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SSH Restriction: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2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Port 22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is restricted solely to the trusted Admin-Kali-PC IP (</a:t>
            </a:r>
            <a:r>
              <a:rPr lang="en-US" sz="22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192.168.20.10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762000"/>
            <a:ext cx="17402175" cy="918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26"/>
              </a:lnSpc>
            </a:pPr>
            <a:r>
              <a:rPr lang="en-US" b="true" sz="5400">
                <a:solidFill>
                  <a:srgbClr val="F5F5F5"/>
                </a:solidFill>
                <a:latin typeface="Arimo Bold"/>
                <a:ea typeface="Arimo Bold"/>
                <a:cs typeface="Arimo Bold"/>
                <a:sym typeface="Arimo Bold"/>
              </a:rPr>
              <a:t>IMPLEMENTED SECURITY MEASURES: DOCKER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57250" y="2651670"/>
            <a:ext cx="16573500" cy="14288"/>
            <a:chOff x="0" y="0"/>
            <a:chExt cx="22098000" cy="190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098000" cy="19050"/>
            </a:xfrm>
            <a:custGeom>
              <a:avLst/>
              <a:gdLst/>
              <a:ahLst/>
              <a:cxnLst/>
              <a:rect r="r" b="b" t="t" l="l"/>
              <a:pathLst>
                <a:path h="19050" w="2209800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028700" y="2646907"/>
            <a:ext cx="8251031" cy="99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APPLICATION ISOLATION AND CONTAINMENT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7250" y="4057650"/>
            <a:ext cx="7858125" cy="1051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Application: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OWASP Juice Shop deployed in a Docker container (exposed on port </a:t>
            </a:r>
            <a:r>
              <a:rPr lang="en-US" sz="22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3000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).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57250" y="5562600"/>
            <a:ext cx="7858125" cy="1594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Security Benefit: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Isolation. Contains potential breaches within the container, preventing attackers from gaining root access to the host OS or moving laterally.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57250" y="7524750"/>
            <a:ext cx="7858125" cy="1051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Resilience: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Malicious changes are non-persistent and automatically erased when the container is restarted.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857250" y="762000"/>
            <a:ext cx="17402175" cy="1822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26"/>
              </a:lnSpc>
            </a:pPr>
            <a:r>
              <a:rPr lang="en-US" b="true" sz="5400">
                <a:solidFill>
                  <a:srgbClr val="F5F5F5"/>
                </a:solidFill>
                <a:latin typeface="Arimo Bold"/>
                <a:ea typeface="Arimo Bold"/>
                <a:cs typeface="Arimo Bold"/>
                <a:sym typeface="Arimo Bold"/>
              </a:rPr>
              <a:t>IMPLEMENTED SECURITY MEASURES: SURICATA IDS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57250" y="2651670"/>
            <a:ext cx="16573500" cy="14288"/>
            <a:chOff x="0" y="0"/>
            <a:chExt cx="22098000" cy="190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098000" cy="19050"/>
            </a:xfrm>
            <a:custGeom>
              <a:avLst/>
              <a:gdLst/>
              <a:ahLst/>
              <a:cxnLst/>
              <a:rect r="r" b="b" t="t" l="l"/>
              <a:pathLst>
                <a:path h="19050" w="2209800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857250" y="3214166"/>
            <a:ext cx="8251031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REAL-TIME THREAT DETECTION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7250" y="3906849"/>
            <a:ext cx="7858125" cy="10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Deployment: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Installed and configured to monitor the DMZ interface (</a:t>
            </a:r>
            <a:r>
              <a:rPr lang="en-US" sz="22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enp0s8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).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57250" y="5183199"/>
            <a:ext cx="7858125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Detection Capability: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57250" y="7723300"/>
            <a:ext cx="7858125" cy="1051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Role: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Provides continuous monitoring and early warning, detecting threats that bypass the host-level firewall.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57250" y="5776390"/>
            <a:ext cx="7248525" cy="508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775" indent="-242888" lvl="1">
              <a:lnSpc>
                <a:spcPts val="4320"/>
              </a:lnSpc>
              <a:buFont typeface="Arial"/>
              <a:buChar char="•"/>
            </a:pP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Identifies port scans (like Nmap).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7250" y="6401230"/>
            <a:ext cx="7248525" cy="508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775" indent="-242888" lvl="1">
              <a:lnSpc>
                <a:spcPts val="4320"/>
              </a:lnSpc>
              <a:buFont typeface="Arial"/>
              <a:buChar char="•"/>
            </a:pP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OS fingerprinting.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7024166"/>
            <a:ext cx="7248525" cy="508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775" indent="-242888" lvl="1">
              <a:lnSpc>
                <a:spcPts val="4320"/>
              </a:lnSpc>
              <a:buFont typeface="Arial"/>
              <a:buChar char="•"/>
            </a:pP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Brute-force attempts.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>
            <a:grpSpLocks noChangeAspect="true"/>
          </p:cNvGrpSpPr>
          <p:nvPr/>
        </p:nvGrpSpPr>
        <p:grpSpPr>
          <a:xfrm rot="0">
            <a:off x="857250" y="2768872"/>
            <a:ext cx="7858125" cy="6660876"/>
            <a:chOff x="0" y="0"/>
            <a:chExt cx="10477500" cy="8881168"/>
          </a:xfrm>
        </p:grpSpPr>
        <p:sp>
          <p:nvSpPr>
            <p:cNvPr name="Freeform 5" id="5" descr="image.png"/>
            <p:cNvSpPr/>
            <p:nvPr/>
          </p:nvSpPr>
          <p:spPr>
            <a:xfrm flipH="false" flipV="false" rot="0">
              <a:off x="0" y="0"/>
              <a:ext cx="10477500" cy="8881110"/>
            </a:xfrm>
            <a:custGeom>
              <a:avLst/>
              <a:gdLst/>
              <a:ahLst/>
              <a:cxnLst/>
              <a:rect r="r" b="b" t="t" l="l"/>
              <a:pathLst>
                <a:path h="8881110" w="10477500">
                  <a:moveTo>
                    <a:pt x="0" y="0"/>
                  </a:moveTo>
                  <a:lnTo>
                    <a:pt x="10477500" y="0"/>
                  </a:lnTo>
                  <a:lnTo>
                    <a:pt x="10477500" y="8881110"/>
                  </a:lnTo>
                  <a:lnTo>
                    <a:pt x="0" y="8881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-171"/>
              </a:stretch>
            </a:blipFill>
          </p:spPr>
        </p:sp>
      </p:grpSp>
      <p:grpSp>
        <p:nvGrpSpPr>
          <p:cNvPr name="Group 6" id="6"/>
          <p:cNvGrpSpPr>
            <a:grpSpLocks noChangeAspect="true"/>
          </p:cNvGrpSpPr>
          <p:nvPr/>
        </p:nvGrpSpPr>
        <p:grpSpPr>
          <a:xfrm rot="0">
            <a:off x="9572625" y="2768872"/>
            <a:ext cx="7858125" cy="6660876"/>
            <a:chOff x="0" y="0"/>
            <a:chExt cx="10477500" cy="8881168"/>
          </a:xfrm>
        </p:grpSpPr>
        <p:sp>
          <p:nvSpPr>
            <p:cNvPr name="Freeform 7" id="7" descr="image.png"/>
            <p:cNvSpPr/>
            <p:nvPr/>
          </p:nvSpPr>
          <p:spPr>
            <a:xfrm flipH="false" flipV="false" rot="0">
              <a:off x="0" y="0"/>
              <a:ext cx="10477500" cy="8881110"/>
            </a:xfrm>
            <a:custGeom>
              <a:avLst/>
              <a:gdLst/>
              <a:ahLst/>
              <a:cxnLst/>
              <a:rect r="r" b="b" t="t" l="l"/>
              <a:pathLst>
                <a:path h="8881110" w="10477500">
                  <a:moveTo>
                    <a:pt x="0" y="0"/>
                  </a:moveTo>
                  <a:lnTo>
                    <a:pt x="10477500" y="0"/>
                  </a:lnTo>
                  <a:lnTo>
                    <a:pt x="10477500" y="8881110"/>
                  </a:lnTo>
                  <a:lnTo>
                    <a:pt x="0" y="8881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-171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857250" y="762000"/>
            <a:ext cx="11697177" cy="918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26"/>
              </a:lnSpc>
            </a:pPr>
            <a:r>
              <a:rPr lang="en-US" b="true" sz="5400">
                <a:solidFill>
                  <a:srgbClr val="F5F5F5"/>
                </a:solidFill>
                <a:latin typeface="Arimo Bold"/>
                <a:ea typeface="Arimo Bold"/>
                <a:cs typeface="Arimo Bold"/>
                <a:sym typeface="Arimo Bold"/>
              </a:rPr>
              <a:t>SECURITY TESTING &amp; VALIDATION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57250" y="1897335"/>
            <a:ext cx="16573500" cy="14288"/>
            <a:chOff x="0" y="0"/>
            <a:chExt cx="22098000" cy="190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098000" cy="19050"/>
            </a:xfrm>
            <a:custGeom>
              <a:avLst/>
              <a:gdLst/>
              <a:ahLst/>
              <a:cxnLst/>
              <a:rect r="r" b="b" t="t" l="l"/>
              <a:pathLst>
                <a:path h="19050" w="2209800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443038" y="4051324"/>
            <a:ext cx="674465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NMAP SCANNING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43038" y="4813324"/>
            <a:ext cx="6686550" cy="10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Method: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Simulated an external attacker to confirm firewall rules and network mapping.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43038" y="6299224"/>
            <a:ext cx="6686550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Result: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Only expected ports (</a:t>
            </a:r>
            <a:r>
              <a:rPr lang="en-US" sz="22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80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22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3000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) were open. Services were successfully enumerated, confirming visibility controls.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158412" y="4051324"/>
            <a:ext cx="6773227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SURICATA IDS ALERTS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158412" y="4813324"/>
            <a:ext cx="6686550" cy="10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Method: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Monitored IDS logs during the Nmap simulation.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158412" y="6299224"/>
            <a:ext cx="6686550" cy="1051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2250">
                <a:solidFill>
                  <a:srgbClr val="E0E0E0"/>
                </a:solidFill>
                <a:latin typeface="Arimo Bold"/>
                <a:ea typeface="Arimo Bold"/>
                <a:cs typeface="Arimo Bold"/>
                <a:sym typeface="Arimo Bold"/>
              </a:rPr>
              <a:t>Result:</a:t>
            </a: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 78 alerts generated. The IDS is fully functional in real-time detection mode.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857250" y="762000"/>
            <a:ext cx="4610100" cy="918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26"/>
              </a:lnSpc>
            </a:pPr>
            <a:r>
              <a:rPr lang="en-US" b="true" sz="5400">
                <a:solidFill>
                  <a:srgbClr val="F5F5F5"/>
                </a:solidFill>
                <a:latin typeface="Arimo Bold"/>
                <a:ea typeface="Arimo Bold"/>
                <a:cs typeface="Arimo Bold"/>
                <a:sym typeface="Arimo Bold"/>
              </a:rPr>
              <a:t>CONCLUSION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57250" y="1897335"/>
            <a:ext cx="16573500" cy="14288"/>
            <a:chOff x="0" y="0"/>
            <a:chExt cx="22098000" cy="190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098000" cy="19050"/>
            </a:xfrm>
            <a:custGeom>
              <a:avLst/>
              <a:gdLst/>
              <a:ahLst/>
              <a:cxnLst/>
              <a:rect r="r" b="b" t="t" l="l"/>
              <a:pathLst>
                <a:path h="19050" w="22098000">
                  <a:moveTo>
                    <a:pt x="0" y="0"/>
                  </a:moveTo>
                  <a:lnTo>
                    <a:pt x="22098000" y="0"/>
                  </a:lnTo>
                  <a:lnTo>
                    <a:pt x="22098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3333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857250" y="2111648"/>
            <a:ext cx="10377014" cy="971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>
                <a:solidFill>
                  <a:srgbClr val="DEFF9A"/>
                </a:solidFill>
                <a:latin typeface="Arimo"/>
                <a:ea typeface="Arimo"/>
                <a:cs typeface="Arimo"/>
                <a:sym typeface="Arimo"/>
              </a:rPr>
              <a:t>PROJECT SUMMARY: ENHANCED SECURITY POSTURE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2488" y="3276748"/>
            <a:ext cx="9229725" cy="10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A secure, layered infrastructure was successfully designed, implemented, and validated for A2Z Corporation. Key outcomes include: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52488" y="6783854"/>
            <a:ext cx="9229725" cy="10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The system is now more resilient and secure against key external threats, providing enhanced operational continuity.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13720" y="4638824"/>
            <a:ext cx="8620125" cy="508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775" indent="-242888" lvl="1">
              <a:lnSpc>
                <a:spcPts val="4320"/>
              </a:lnSpc>
              <a:buFont typeface="Arial"/>
              <a:buChar char="•"/>
            </a:pP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Reduced Attack Surface (UFW + DMZ segmentation).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13720" y="5318909"/>
            <a:ext cx="8620125" cy="508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775" indent="-242888" lvl="1">
              <a:lnSpc>
                <a:spcPts val="4320"/>
              </a:lnSpc>
              <a:buFont typeface="Arial"/>
              <a:buChar char="•"/>
            </a:pP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Isolated Vulnerable Services (Docker containerization).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13720" y="5998994"/>
            <a:ext cx="8620125" cy="508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775" indent="-242888" lvl="1">
              <a:lnSpc>
                <a:spcPts val="4320"/>
              </a:lnSpc>
              <a:buFont typeface="Arial"/>
              <a:buChar char="•"/>
            </a:pPr>
            <a:r>
              <a:rPr lang="en-US" sz="2250">
                <a:solidFill>
                  <a:srgbClr val="E0E0E0"/>
                </a:solidFill>
                <a:latin typeface="Arimo"/>
                <a:ea typeface="Arimo"/>
                <a:cs typeface="Arimo"/>
                <a:sym typeface="Arimo"/>
              </a:rPr>
              <a:t>Continuous Threat Detection (Suricata IDS).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3481983" y="3776342"/>
            <a:ext cx="11324034" cy="2505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794"/>
              </a:lnSpc>
            </a:pPr>
            <a:r>
              <a:rPr lang="en-US" b="true" sz="15000">
                <a:solidFill>
                  <a:srgbClr val="F5F5F5"/>
                </a:solidFill>
                <a:latin typeface="Arimo Bold"/>
                <a:ea typeface="Arimo Bold"/>
                <a:cs typeface="Arimo Bold"/>
                <a:sym typeface="Arimo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DAG6y8airGA</dc:identifier>
  <dcterms:modified xsi:type="dcterms:W3CDTF">2011-08-01T06:04:30Z</dcterms:modified>
  <cp:revision>1</cp:revision>
  <dc:title>Slides for CS</dc:title>
</cp:coreProperties>
</file>